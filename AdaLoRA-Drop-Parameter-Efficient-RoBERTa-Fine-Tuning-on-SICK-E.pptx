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Funnel Sans" panose="020B0604020202020204" charset="0"/>
      <p:regular r:id="rId11"/>
    </p:embeddedFont>
    <p:embeddedFont>
      <p:font typeface="Mona Sans Semi Bold" panose="020B0604020202020204" charset="0"/>
      <p:regular r:id="rId12"/>
    </p:embeddedFont>
  </p:embeddedFontLst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1" d="100"/>
          <a:sy n="51" d="100"/>
        </p:scale>
        <p:origin x="49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5442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arxiv.org/abs/2402.07721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2303.10512" TargetMode="External"/><Relationship Id="rId5" Type="http://schemas.openxmlformats.org/officeDocument/2006/relationships/hyperlink" Target="https://thinkingmachines.ai/blog/lora/" TargetMode="Externa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0"/>
            <a:ext cx="658368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7822" y="2284333"/>
            <a:ext cx="6101477" cy="366093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716042"/>
            <a:ext cx="6459141" cy="1807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AdaLoRA-Drop: Parameter-Efficient RoBERTa Fine-Tuning on SICK-E</a:t>
            </a:r>
            <a:endParaRPr lang="en-US" sz="3750" dirty="0"/>
          </a:p>
        </p:txBody>
      </p:sp>
      <p:sp>
        <p:nvSpPr>
          <p:cNvPr id="5" name="Text 1"/>
          <p:cNvSpPr/>
          <p:nvPr/>
        </p:nvSpPr>
        <p:spPr>
          <a:xfrm>
            <a:off x="793790" y="2505430"/>
            <a:ext cx="6459141" cy="771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Task:</a:t>
            </a:r>
            <a:r>
              <a:rPr lang="en-US" sz="18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Textual Entailment on </a:t>
            </a:r>
            <a:r>
              <a:rPr lang="en-US" sz="18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SICK-E</a:t>
            </a:r>
            <a:r>
              <a:rPr lang="en-US" sz="18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(classify pairs as </a:t>
            </a:r>
            <a:r>
              <a:rPr lang="en-US" sz="1850" i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entailment, contradiction, neutral</a:t>
            </a:r>
            <a:r>
              <a:rPr lang="en-US" sz="18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). 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793789" y="3244374"/>
            <a:ext cx="6459141" cy="771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Base model:</a:t>
            </a:r>
            <a:r>
              <a:rPr lang="en-US" sz="18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RoBERTa-base – a "robustly optimised BERT" trained longer, with more data and better hyperparameters.</a:t>
            </a:r>
          </a:p>
          <a:p>
            <a:pPr>
              <a:lnSpc>
                <a:spcPts val="3000"/>
              </a:lnSpc>
            </a:pPr>
            <a:r>
              <a:rPr lang="en-US" sz="18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Our code for the experiment : https://github.com/hdnguyen1802/AdaLoRa-drop-roberta-sicke 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793790" y="5177305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373B48"/>
                </a:solidFill>
                <a:latin typeface="Funnel Sans" panose="020B0604020202020204" charset="0"/>
                <a:ea typeface="Mona Sans Semi Bold" pitchFamily="34" charset="-122"/>
                <a:cs typeface="Mona Sans Semi Bold" pitchFamily="34" charset="-120"/>
              </a:rPr>
              <a:t>Inspired by: </a:t>
            </a:r>
            <a:endParaRPr lang="en-US" sz="1850" b="1" dirty="0">
              <a:latin typeface="Funnel Sans" panose="020B060402020202020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793790" y="5451158"/>
            <a:ext cx="6459141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u="sng" dirty="0">
                <a:solidFill>
                  <a:srgbClr val="5E98F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LoRA Without Regret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93790" y="5904071"/>
            <a:ext cx="6459141" cy="771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u="sng" dirty="0">
                <a:solidFill>
                  <a:srgbClr val="5E98F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AdaLoRA: Adaptive Budget Allocation for Parameter-Efficient Fine-Tuning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93790" y="6742509"/>
            <a:ext cx="6459141" cy="771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u="sng" dirty="0">
                <a:solidFill>
                  <a:srgbClr val="5E98F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LoRA-drop: Efficient LoRA Parameter Pruning based on Output Evaluation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3267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70789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The Challenge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93790" y="2198132"/>
            <a:ext cx="10616684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Problem with full fine-tuning</a:t>
            </a:r>
            <a:endParaRPr lang="en-US" sz="6150" dirty="0"/>
          </a:p>
        </p:txBody>
      </p:sp>
      <p:sp>
        <p:nvSpPr>
          <p:cNvPr id="4" name="Shape 2"/>
          <p:cNvSpPr/>
          <p:nvPr/>
        </p:nvSpPr>
        <p:spPr>
          <a:xfrm>
            <a:off x="793790" y="3516511"/>
            <a:ext cx="6407944" cy="1685092"/>
          </a:xfrm>
          <a:prstGeom prst="roundRect">
            <a:avLst>
              <a:gd name="adj" fmla="val 5654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1028224" y="3750945"/>
            <a:ext cx="370593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Memory &amp; Compute Heavy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224" y="4241363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All ~125M RoBERTa parameters become trainable → </a:t>
            </a:r>
            <a:r>
              <a:rPr lang="en-US" sz="17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memory / compute heavy</a:t>
            </a: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3516511"/>
            <a:ext cx="6408063" cy="1685092"/>
          </a:xfrm>
          <a:prstGeom prst="roundRect">
            <a:avLst>
              <a:gd name="adj" fmla="val 5654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7662982" y="37509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Overkill for SICK-E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62982" y="4241363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Overkill for SICK-E (≈10k sentence pairs). 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93790" y="5570134"/>
            <a:ext cx="13042821" cy="35957"/>
          </a:xfrm>
          <a:prstGeom prst="rect">
            <a:avLst/>
          </a:prstGeom>
          <a:solidFill>
            <a:srgbClr val="52586B">
              <a:alpha val="5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793790" y="5946219"/>
            <a:ext cx="13042821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Goal: </a:t>
            </a:r>
            <a:r>
              <a:rPr lang="en-US" sz="2650" i="1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Match or approach full fine-tuning performance for SICK-E whilst training only a</a:t>
            </a:r>
            <a:r>
              <a:rPr lang="en-US" sz="26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 </a:t>
            </a:r>
            <a:r>
              <a:rPr lang="en-US" sz="2650" b="1" i="1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tiny fraction</a:t>
            </a:r>
            <a:r>
              <a:rPr lang="en-US" sz="26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 of parameters.</a:t>
            </a:r>
            <a:endParaRPr lang="en-US" sz="26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000460-E8E9-DD6F-A7DD-270DDEA696E3}"/>
              </a:ext>
            </a:extLst>
          </p:cNvPr>
          <p:cNvSpPr/>
          <p:nvPr/>
        </p:nvSpPr>
        <p:spPr>
          <a:xfrm>
            <a:off x="11998712" y="7108333"/>
            <a:ext cx="2631688" cy="112126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60239"/>
            <a:ext cx="908470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From RoBERTa to AdaLoRA-Drop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150983"/>
            <a:ext cx="226814" cy="22681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3790" y="2477691"/>
            <a:ext cx="6407944" cy="30480"/>
          </a:xfrm>
          <a:prstGeom prst="rect">
            <a:avLst/>
          </a:prstGeom>
          <a:solidFill>
            <a:srgbClr val="373B4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2"/>
          <p:cNvSpPr/>
          <p:nvPr/>
        </p:nvSpPr>
        <p:spPr>
          <a:xfrm>
            <a:off x="793790" y="26519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RoBERTa-base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3142417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Transformer encoder; improves BERT via longer training, more data, and better hyperparameters. 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28548" y="2150983"/>
            <a:ext cx="226814" cy="22681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428548" y="2477691"/>
            <a:ext cx="6408063" cy="30480"/>
          </a:xfrm>
          <a:prstGeom prst="rect">
            <a:avLst/>
          </a:prstGeom>
          <a:solidFill>
            <a:srgbClr val="373B4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5"/>
          <p:cNvSpPr/>
          <p:nvPr/>
        </p:nvSpPr>
        <p:spPr>
          <a:xfrm>
            <a:off x="7428548" y="2651998"/>
            <a:ext cx="39845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LoRA (Low-Rank Adaptation)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428548" y="3142417"/>
            <a:ext cx="64080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Freeze backbone; inject small low-rank matrices (A,B) into selected layers. Can reduce trainable parameters by up to </a:t>
            </a:r>
            <a:r>
              <a:rPr lang="en-US" sz="17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10,000×</a:t>
            </a: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vs full fine-tune with comparable performance. 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4656296"/>
            <a:ext cx="226814" cy="226814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793790" y="4983004"/>
            <a:ext cx="6407944" cy="30480"/>
          </a:xfrm>
          <a:prstGeom prst="rect">
            <a:avLst/>
          </a:prstGeom>
          <a:solidFill>
            <a:srgbClr val="373B4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Text 8"/>
          <p:cNvSpPr/>
          <p:nvPr/>
        </p:nvSpPr>
        <p:spPr>
          <a:xfrm>
            <a:off x="793790" y="5157311"/>
            <a:ext cx="35810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AdaLoRA (Adaptive LoRA)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793790" y="5647730"/>
            <a:ext cx="640794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Allocates rank </a:t>
            </a:r>
            <a:r>
              <a:rPr lang="en-US" sz="17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adaptively per layer</a:t>
            </a: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based on importance. Prunes unimportant singular values → better performance in </a:t>
            </a:r>
            <a:r>
              <a:rPr lang="en-US" sz="17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low-budget</a:t>
            </a: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regimes. </a:t>
            </a:r>
            <a:endParaRPr lang="en-US" sz="17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28548" y="4656296"/>
            <a:ext cx="226814" cy="22681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7428548" y="4983004"/>
            <a:ext cx="6408063" cy="30480"/>
          </a:xfrm>
          <a:prstGeom prst="rect">
            <a:avLst/>
          </a:prstGeom>
          <a:solidFill>
            <a:srgbClr val="373B4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1"/>
          <p:cNvSpPr/>
          <p:nvPr/>
        </p:nvSpPr>
        <p:spPr>
          <a:xfrm>
            <a:off x="7428548" y="51573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LoRA-Drop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7428548" y="5647730"/>
            <a:ext cx="640806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Compute per-layer importance from </a:t>
            </a:r>
            <a:r>
              <a:rPr lang="en-US" sz="17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LoRA output</a:t>
            </a: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ΔWx. Keep LoRA in important layers; </a:t>
            </a:r>
            <a:r>
              <a:rPr lang="en-US" sz="17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share one LoRA module</a:t>
            </a: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across all other layers. Achieves near-LoRA performance whilst dropping ≈50% of LoRA parameters. </a:t>
            </a:r>
            <a:endParaRPr lang="en-US" sz="17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D29272A-4681-F4D8-19DC-9B9CB1859F6D}"/>
              </a:ext>
            </a:extLst>
          </p:cNvPr>
          <p:cNvSpPr/>
          <p:nvPr/>
        </p:nvSpPr>
        <p:spPr>
          <a:xfrm>
            <a:off x="11998712" y="7108333"/>
            <a:ext cx="2631688" cy="112126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04768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Our Method: Two-Stage AdaLoRA-Drop on RoBERTa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630436" y="2762488"/>
            <a:ext cx="6571417" cy="4462224"/>
          </a:xfrm>
          <a:prstGeom prst="roundRect">
            <a:avLst>
              <a:gd name="adj" fmla="val 3660"/>
            </a:avLst>
          </a:prstGeom>
          <a:solidFill>
            <a:srgbClr val="E2E4E9">
              <a:alpha val="95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857250" y="2989302"/>
            <a:ext cx="5301139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Stage 1 – Importance Estimation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857250" y="3641407"/>
            <a:ext cx="6117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Attach AdaLoRA modules to targeted RoBERTa layers.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857250" y="4083606"/>
            <a:ext cx="61177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Train briefly on ~10% of SICK-E (e.g., 3 epochs, small adapter rank).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857250" y="4888706"/>
            <a:ext cx="61177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For each layer, compute importance </a:t>
            </a:r>
            <a:r>
              <a:rPr lang="en-US" sz="1750" b="1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Iᵢ ∝ E[‖ΔWᵢx‖²]</a:t>
            </a:r>
            <a:r>
              <a:rPr lang="en-US" sz="17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across this subset (like LoRA-Drop). 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857250" y="5693807"/>
            <a:ext cx="611778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Sort layers by Iᵢ; choose minimal set reaching </a:t>
            </a:r>
            <a:r>
              <a:rPr lang="en-US" sz="1750" b="1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95%</a:t>
            </a:r>
            <a:r>
              <a:rPr lang="en-US" sz="17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(or 90%) cumulative importance → </a:t>
            </a:r>
            <a:r>
              <a:rPr lang="en-US" sz="1750" b="1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high-importance layers</a:t>
            </a:r>
            <a:r>
              <a:rPr lang="en-US" sz="17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; rest are </a:t>
            </a:r>
            <a:r>
              <a:rPr lang="en-US" sz="1750" b="1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low-importance</a:t>
            </a:r>
            <a:r>
              <a:rPr lang="en-US" sz="17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36168" y="2762488"/>
            <a:ext cx="6571417" cy="4462224"/>
          </a:xfrm>
          <a:prstGeom prst="roundRect">
            <a:avLst>
              <a:gd name="adj" fmla="val 3660"/>
            </a:avLst>
          </a:prstGeom>
          <a:solidFill>
            <a:srgbClr val="E2E4E9">
              <a:alpha val="95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7662982" y="2989302"/>
            <a:ext cx="6060996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Stage 2 – AdaLoRA-Drop Fine-Tuning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7662982" y="3641407"/>
            <a:ext cx="61177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Reset to a fresh RoBERTa-base classifier (num_labels = 3).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662982" y="4446508"/>
            <a:ext cx="61177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Apply </a:t>
            </a:r>
            <a:r>
              <a:rPr lang="en-US" sz="1750" b="1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AdaLoRA</a:t>
            </a:r>
            <a:r>
              <a:rPr lang="en-US" sz="17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with a small target rank (e.g., r=4) as per AdaLoRA's low-budget recommendations. 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662982" y="5251609"/>
            <a:ext cx="61177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High-importance layers:</a:t>
            </a:r>
            <a:r>
              <a:rPr lang="en-US" sz="17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each gets its </a:t>
            </a:r>
            <a:r>
              <a:rPr lang="en-US" sz="1750" b="1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own AdaLoRA module</a:t>
            </a:r>
            <a:r>
              <a:rPr lang="en-US" sz="17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662982" y="6056709"/>
            <a:ext cx="611778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Low-importance layers:</a:t>
            </a:r>
            <a:r>
              <a:rPr lang="en-US" sz="17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</a:t>
            </a:r>
            <a:r>
              <a:rPr lang="en-US" sz="1750" b="1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share a single AdaLoRA module</a:t>
            </a:r>
            <a:r>
              <a:rPr lang="en-US" sz="17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per shape group (instead of a shared LoRA as in LoRA-Drop).</a:t>
            </a:r>
            <a:endParaRPr lang="en-US" sz="17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A54590A-78AF-AE44-F2D7-072EA5329636}"/>
              </a:ext>
            </a:extLst>
          </p:cNvPr>
          <p:cNvSpPr/>
          <p:nvPr/>
        </p:nvSpPr>
        <p:spPr>
          <a:xfrm>
            <a:off x="11998712" y="7304007"/>
            <a:ext cx="2631688" cy="92559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23662"/>
            <a:ext cx="4820007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Experimental Setup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793790" y="1711642"/>
            <a:ext cx="4219099" cy="2698313"/>
          </a:xfrm>
          <a:prstGeom prst="roundRect">
            <a:avLst>
              <a:gd name="adj" fmla="val 4067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770930" y="1711642"/>
            <a:ext cx="91440" cy="2698313"/>
          </a:xfrm>
          <a:prstGeom prst="roundRect">
            <a:avLst>
              <a:gd name="adj" fmla="val 88558"/>
            </a:avLst>
          </a:prstGeom>
          <a:solidFill>
            <a:srgbClr val="373B4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1077992" y="1927265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Dataset: SICK-E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077992" y="2344103"/>
            <a:ext cx="3719274" cy="2354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≈9.8k sentence pairs, labelled as entailment / contradiction / neutral. </a:t>
            </a:r>
          </a:p>
          <a:p>
            <a:pPr>
              <a:lnSpc>
                <a:spcPts val="2400"/>
              </a:lnSpc>
            </a:pPr>
            <a:r>
              <a:rPr lang="en-US" sz="1500" u="sng" dirty="0">
                <a:solidFill>
                  <a:srgbClr val="52586B"/>
                </a:solidFill>
                <a:latin typeface="Funnel Sans" panose="020B0604020202020204" charset="0"/>
                <a:ea typeface="Funnel Sans" pitchFamily="34" charset="-122"/>
                <a:cs typeface="Funnel Sans" pitchFamily="34" charset="-120"/>
              </a:rPr>
              <a:t>Example:  </a:t>
            </a:r>
          </a:p>
          <a:p>
            <a:pPr>
              <a:lnSpc>
                <a:spcPts val="2400"/>
              </a:lnSpc>
            </a:pPr>
            <a:r>
              <a:rPr lang="en-US" sz="15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S1: A lone biker is jumping in the air</a:t>
            </a:r>
          </a:p>
          <a:p>
            <a:pPr>
              <a:lnSpc>
                <a:spcPts val="2400"/>
              </a:lnSpc>
            </a:pPr>
            <a:r>
              <a:rPr lang="en-US" sz="15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S2: A biker is jumping in the air, alone</a:t>
            </a:r>
          </a:p>
          <a:p>
            <a:pPr>
              <a:lnSpc>
                <a:spcPts val="2400"/>
              </a:lnSpc>
            </a:pPr>
            <a:r>
              <a:rPr lang="en-US" sz="15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Relatedness: ENTAILMENT	</a:t>
            </a:r>
          </a:p>
        </p:txBody>
      </p:sp>
      <p:sp>
        <p:nvSpPr>
          <p:cNvPr id="7" name="Shape 5"/>
          <p:cNvSpPr/>
          <p:nvPr/>
        </p:nvSpPr>
        <p:spPr>
          <a:xfrm>
            <a:off x="5205651" y="1711642"/>
            <a:ext cx="4219099" cy="2698313"/>
          </a:xfrm>
          <a:prstGeom prst="roundRect">
            <a:avLst>
              <a:gd name="adj" fmla="val 4067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5182791" y="1711642"/>
            <a:ext cx="91440" cy="2698313"/>
          </a:xfrm>
          <a:prstGeom prst="roundRect">
            <a:avLst>
              <a:gd name="adj" fmla="val 88558"/>
            </a:avLst>
          </a:prstGeom>
          <a:solidFill>
            <a:srgbClr val="373B4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5489853" y="1927265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Base model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5489853" y="2344103"/>
            <a:ext cx="3719274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RoBERTa-base encoder with classification head.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617512" y="1711642"/>
            <a:ext cx="4219099" cy="2698313"/>
          </a:xfrm>
          <a:prstGeom prst="roundRect">
            <a:avLst>
              <a:gd name="adj" fmla="val 4067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9594652" y="1711642"/>
            <a:ext cx="91440" cy="2698313"/>
          </a:xfrm>
          <a:prstGeom prst="roundRect">
            <a:avLst>
              <a:gd name="adj" fmla="val 88558"/>
            </a:avLst>
          </a:prstGeom>
          <a:solidFill>
            <a:srgbClr val="373B4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9901714" y="1927265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Training details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9901714" y="2344103"/>
            <a:ext cx="3719274" cy="1850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Same task setting for all models:</a:t>
            </a:r>
            <a:r>
              <a:rPr lang="en-US" sz="15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Cross-entropy loss, AdamW optimiser. Small batch size (e.g., 64) and learning rate in LoRA/AdaLoRA-friendly range. 5 epochs of fine-tuning, early stopping by validation accuracy.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93790" y="4723071"/>
            <a:ext cx="13042821" cy="31671"/>
          </a:xfrm>
          <a:prstGeom prst="rect">
            <a:avLst/>
          </a:prstGeom>
          <a:solidFill>
            <a:srgbClr val="52586B">
              <a:alpha val="5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793790" y="5043845"/>
            <a:ext cx="2892028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Models compared: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793790" y="5694521"/>
            <a:ext cx="13042821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AdaLoRA-drop@95 / @90 (our):</a:t>
            </a:r>
            <a:r>
              <a:rPr lang="en-US" sz="15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Two variants with cumulative importance thresholds 95% and 90%.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93790" y="6070283"/>
            <a:ext cx="13042821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Baseline (Full FT):</a:t>
            </a:r>
            <a:r>
              <a:rPr lang="en-US" sz="15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all RoBERTa weights trainable (~124M params).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93790" y="6446044"/>
            <a:ext cx="13042821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LoRA-all:</a:t>
            </a:r>
            <a:r>
              <a:rPr lang="en-US" sz="15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standard LoRA on all chosen layers.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93790" y="6821805"/>
            <a:ext cx="13042821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LoRA-drop@95:</a:t>
            </a:r>
            <a:r>
              <a:rPr lang="en-US" sz="15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reproduce LoRA-Drop with 95% importance threshold.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93790" y="7197566"/>
            <a:ext cx="13042821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AdaLoRA-all:</a:t>
            </a:r>
            <a:r>
              <a:rPr lang="en-US" sz="15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AdaLoRA on all layers, no sharing.</a:t>
            </a:r>
            <a:endParaRPr lang="en-US" sz="15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E2C2657-3B1F-C5E5-A559-3D93341652AB}"/>
              </a:ext>
            </a:extLst>
          </p:cNvPr>
          <p:cNvSpPr/>
          <p:nvPr/>
        </p:nvSpPr>
        <p:spPr>
          <a:xfrm>
            <a:off x="11998712" y="7108333"/>
            <a:ext cx="2631688" cy="112126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8774"/>
            <a:ext cx="1197566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Results – Accuracy vs Trainable Parameters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831181"/>
            <a:ext cx="13042821" cy="4567476"/>
          </a:xfrm>
          <a:prstGeom prst="roundRect">
            <a:avLst>
              <a:gd name="adj" fmla="val 208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801410" y="1838801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1028343" y="1982510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Model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6243161" y="1982510"/>
            <a:ext cx="344697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Trainable Params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151388" y="1982510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Test Accuracy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1410" y="2489121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1028343" y="2632829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Baseline (full)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6243161" y="2632829"/>
            <a:ext cx="344697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124,647,939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0151388" y="2632829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0.8863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801410" y="3139440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1028343" y="3283148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LoRA-all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6243161" y="3283148"/>
            <a:ext cx="344697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1,256,451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10151388" y="3283148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0.8939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01410" y="3789759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1028343" y="3933468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LoRA-drop@95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6243161" y="3933468"/>
            <a:ext cx="344697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1,062,915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10151388" y="3933468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0.8900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01410" y="4440079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1028343" y="4583787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AdaLoRA-all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6243161" y="4583787"/>
            <a:ext cx="344697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682,272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0151388" y="4583787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0.8805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801410" y="5090398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1028343" y="5234107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73B48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AdaLoRA-drop@95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6243161" y="5234107"/>
            <a:ext cx="344697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73B48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133,698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10151388" y="5234107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73B48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0.8744</a:t>
            </a:r>
            <a:endParaRPr lang="en-US" sz="1750" dirty="0"/>
          </a:p>
        </p:txBody>
      </p:sp>
      <p:sp>
        <p:nvSpPr>
          <p:cNvPr id="28" name="Shape 26"/>
          <p:cNvSpPr/>
          <p:nvPr/>
        </p:nvSpPr>
        <p:spPr>
          <a:xfrm>
            <a:off x="801410" y="5740718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1028343" y="5884426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73B48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AdaLoRA-drop@90</a:t>
            </a:r>
            <a:endParaRPr lang="en-US" sz="1750" dirty="0"/>
          </a:p>
        </p:txBody>
      </p:sp>
      <p:sp>
        <p:nvSpPr>
          <p:cNvPr id="30" name="Text 28"/>
          <p:cNvSpPr/>
          <p:nvPr/>
        </p:nvSpPr>
        <p:spPr>
          <a:xfrm>
            <a:off x="6243161" y="5884426"/>
            <a:ext cx="344697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73B48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66,846</a:t>
            </a:r>
            <a:endParaRPr lang="en-US" sz="1750" dirty="0"/>
          </a:p>
        </p:txBody>
      </p:sp>
      <p:sp>
        <p:nvSpPr>
          <p:cNvPr id="31" name="Text 29"/>
          <p:cNvSpPr/>
          <p:nvPr/>
        </p:nvSpPr>
        <p:spPr>
          <a:xfrm>
            <a:off x="10151388" y="5884426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73B48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0.8736</a:t>
            </a:r>
            <a:endParaRPr lang="en-US" sz="1750" dirty="0"/>
          </a:p>
        </p:txBody>
      </p:sp>
      <p:sp>
        <p:nvSpPr>
          <p:cNvPr id="32" name="Text 30"/>
          <p:cNvSpPr/>
          <p:nvPr/>
        </p:nvSpPr>
        <p:spPr>
          <a:xfrm>
            <a:off x="793790" y="6653808"/>
            <a:ext cx="130428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373B48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Key insight:</a:t>
            </a:r>
            <a:r>
              <a:rPr lang="en-US" sz="2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AdaLoRA-drop@90 achieves </a:t>
            </a:r>
            <a:r>
              <a:rPr lang="en-US" sz="22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&gt;99.9%</a:t>
            </a:r>
            <a:r>
              <a:rPr lang="en-US" sz="2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reduction in trainable parameters with only modest accuracy drop.</a:t>
            </a:r>
            <a:endParaRPr lang="en-US" sz="22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2DC914C-5AE8-E70B-3A76-DA9C6F69B2EC}"/>
              </a:ext>
            </a:extLst>
          </p:cNvPr>
          <p:cNvSpPr/>
          <p:nvPr/>
        </p:nvSpPr>
        <p:spPr>
          <a:xfrm>
            <a:off x="11998712" y="7108333"/>
            <a:ext cx="2631688" cy="112126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793790" y="747593"/>
            <a:ext cx="4594860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Findings &amp; Limitations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93790" y="1789509"/>
            <a:ext cx="6436400" cy="1530310"/>
          </a:xfrm>
          <a:prstGeom prst="roundRect">
            <a:avLst>
              <a:gd name="adj" fmla="val 7170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793790" y="1766649"/>
            <a:ext cx="6436400" cy="91440"/>
          </a:xfrm>
          <a:prstGeom prst="roundRect">
            <a:avLst>
              <a:gd name="adj" fmla="val 78140"/>
            </a:avLst>
          </a:prstGeom>
          <a:solidFill>
            <a:srgbClr val="373B4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3756779" y="1534358"/>
            <a:ext cx="510302" cy="510302"/>
          </a:xfrm>
          <a:prstGeom prst="roundRect">
            <a:avLst>
              <a:gd name="adj" fmla="val 179188"/>
            </a:avLst>
          </a:prstGeom>
          <a:solidFill>
            <a:srgbClr val="373B4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909893" y="1661874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86671" y="2214801"/>
            <a:ext cx="3044071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Extreme parameter efficiency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86671" y="2582585"/>
            <a:ext cx="6050637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AdaLoRA-drop@90 shows </a:t>
            </a:r>
            <a:r>
              <a:rPr lang="en-US" sz="13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&gt;99.9%</a:t>
            </a: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reduction in trainable parameters with modest accuracy drop.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00211" y="1789509"/>
            <a:ext cx="6436400" cy="1530310"/>
          </a:xfrm>
          <a:prstGeom prst="roundRect">
            <a:avLst>
              <a:gd name="adj" fmla="val 7170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7400211" y="1766649"/>
            <a:ext cx="6436400" cy="91440"/>
          </a:xfrm>
          <a:prstGeom prst="roundRect">
            <a:avLst>
              <a:gd name="adj" fmla="val 78140"/>
            </a:avLst>
          </a:prstGeom>
          <a:solidFill>
            <a:srgbClr val="373B4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10363200" y="1534358"/>
            <a:ext cx="510302" cy="510302"/>
          </a:xfrm>
          <a:prstGeom prst="roundRect">
            <a:avLst>
              <a:gd name="adj" fmla="val 179188"/>
            </a:avLst>
          </a:prstGeom>
          <a:solidFill>
            <a:srgbClr val="373B4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10516314" y="1661874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593092" y="2214801"/>
            <a:ext cx="3966210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Adapter methods are strong on SICK-E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593092" y="2582585"/>
            <a:ext cx="6050637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LoRA-all slightly beats full fine-tuning—consistent with LoRA results that low-rank constraints can regularise adaptation. 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3790" y="3744992"/>
            <a:ext cx="6436400" cy="1530310"/>
          </a:xfrm>
          <a:prstGeom prst="roundRect">
            <a:avLst>
              <a:gd name="adj" fmla="val 7170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793790" y="3722132"/>
            <a:ext cx="6436400" cy="91440"/>
          </a:xfrm>
          <a:prstGeom prst="roundRect">
            <a:avLst>
              <a:gd name="adj" fmla="val 78140"/>
            </a:avLst>
          </a:prstGeom>
          <a:solidFill>
            <a:srgbClr val="373B4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3756779" y="3489841"/>
            <a:ext cx="510302" cy="510302"/>
          </a:xfrm>
          <a:prstGeom prst="roundRect">
            <a:avLst>
              <a:gd name="adj" fmla="val 179188"/>
            </a:avLst>
          </a:prstGeom>
          <a:solidFill>
            <a:srgbClr val="373B4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3909893" y="3617357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86671" y="4170283"/>
            <a:ext cx="3413641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Importance-based sharing works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986671" y="4538067"/>
            <a:ext cx="6050637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Layer importance from ΔWx (as proposed in LoRA-Drop) is robust enough that low-importance layers can share a single module with minimal harm. 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400211" y="3744992"/>
            <a:ext cx="6436400" cy="1530310"/>
          </a:xfrm>
          <a:prstGeom prst="roundRect">
            <a:avLst>
              <a:gd name="adj" fmla="val 7170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Shape 21"/>
          <p:cNvSpPr/>
          <p:nvPr/>
        </p:nvSpPr>
        <p:spPr>
          <a:xfrm>
            <a:off x="7400211" y="3722132"/>
            <a:ext cx="6436400" cy="91440"/>
          </a:xfrm>
          <a:prstGeom prst="roundRect">
            <a:avLst>
              <a:gd name="adj" fmla="val 78140"/>
            </a:avLst>
          </a:prstGeom>
          <a:solidFill>
            <a:srgbClr val="373B4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Shape 22"/>
          <p:cNvSpPr/>
          <p:nvPr/>
        </p:nvSpPr>
        <p:spPr>
          <a:xfrm>
            <a:off x="10363200" y="3489841"/>
            <a:ext cx="510302" cy="510302"/>
          </a:xfrm>
          <a:prstGeom prst="roundRect">
            <a:avLst>
              <a:gd name="adj" fmla="val 179188"/>
            </a:avLst>
          </a:prstGeom>
          <a:solidFill>
            <a:srgbClr val="373B4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10516314" y="3617357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593092" y="4170283"/>
            <a:ext cx="3547110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AdaLoRA + sharing = tunable knob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7593092" y="4538067"/>
            <a:ext cx="6050637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Adjusting the cumulative importance threshold (95% vs 90%) gives a clear </a:t>
            </a:r>
            <a:r>
              <a:rPr lang="en-US" sz="13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trade-off curve</a:t>
            </a: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between parameters and accuracy.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93790" y="5530453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793790" y="6295787"/>
            <a:ext cx="6313884" cy="994886"/>
          </a:xfrm>
          <a:prstGeom prst="roundRect">
            <a:avLst>
              <a:gd name="adj" fmla="val 7182"/>
            </a:avLst>
          </a:prstGeom>
          <a:solidFill>
            <a:srgbClr val="D4D6DE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811" y="6549985"/>
            <a:ext cx="212646" cy="170021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346478" y="6508313"/>
            <a:ext cx="5591175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Only evaluated on </a:t>
            </a:r>
            <a:r>
              <a:rPr lang="en-US" sz="1300" b="1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SICK-E</a:t>
            </a:r>
            <a:r>
              <a:rPr lang="en-US" sz="13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and </a:t>
            </a:r>
            <a:r>
              <a:rPr lang="en-US" sz="1300" b="1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RoBERTa-base</a:t>
            </a:r>
            <a:r>
              <a:rPr lang="en-US" sz="13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– no guarantee the same trade-offs hold for larger models or tasks.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7530346" y="6295787"/>
            <a:ext cx="6313884" cy="994886"/>
          </a:xfrm>
          <a:prstGeom prst="roundRect">
            <a:avLst>
              <a:gd name="adj" fmla="val 7182"/>
            </a:avLst>
          </a:prstGeom>
          <a:solidFill>
            <a:srgbClr val="D4D6DE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367" y="6549985"/>
            <a:ext cx="212646" cy="170021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8083034" y="6508313"/>
            <a:ext cx="5591175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Importance uses only ΔWx energy; other metrics might give better rankings. 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6986"/>
            <a:ext cx="7211854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Takeaway &amp; Why It Matters!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93790" y="1751290"/>
            <a:ext cx="6413659" cy="2807970"/>
          </a:xfrm>
          <a:prstGeom prst="roundRect">
            <a:avLst>
              <a:gd name="adj" fmla="val 3223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1016794" y="1974294"/>
            <a:ext cx="646390" cy="646390"/>
          </a:xfrm>
          <a:prstGeom prst="roundRect">
            <a:avLst>
              <a:gd name="adj" fmla="val 14144844"/>
            </a:avLst>
          </a:prstGeom>
          <a:solidFill>
            <a:srgbClr val="373B48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4554" y="2151936"/>
            <a:ext cx="290870" cy="2908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16794" y="2836069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Two-Stage Method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016794" y="3301841"/>
            <a:ext cx="5967651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Leverages a small data subset to score layer importance, applying individual AdaLoRA modules to important layers and a shared module for low-importance layers.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7422833" y="1751290"/>
            <a:ext cx="6413778" cy="2807970"/>
          </a:xfrm>
          <a:prstGeom prst="roundRect">
            <a:avLst>
              <a:gd name="adj" fmla="val 3223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Shape 6"/>
          <p:cNvSpPr/>
          <p:nvPr/>
        </p:nvSpPr>
        <p:spPr>
          <a:xfrm>
            <a:off x="7645837" y="1974294"/>
            <a:ext cx="646390" cy="646390"/>
          </a:xfrm>
          <a:prstGeom prst="roundRect">
            <a:avLst>
              <a:gd name="adj" fmla="val 14144844"/>
            </a:avLst>
          </a:prstGeom>
          <a:solidFill>
            <a:srgbClr val="373B48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23597" y="2151936"/>
            <a:ext cx="290870" cy="29087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45837" y="2836069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Extreme Efficiency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7645837" y="3301841"/>
            <a:ext cx="5967770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Achieves up to ≈1,865× fewer trainable parameters (≈0.054% of RoBERTa) with only ~1–1.5% accuracy loss compared to full fine-tuning.</a:t>
            </a:r>
            <a:endParaRPr lang="en-US" sz="1650" dirty="0"/>
          </a:p>
        </p:txBody>
      </p:sp>
      <p:sp>
        <p:nvSpPr>
          <p:cNvPr id="13" name="Shape 9"/>
          <p:cNvSpPr/>
          <p:nvPr/>
        </p:nvSpPr>
        <p:spPr>
          <a:xfrm>
            <a:off x="793790" y="4774644"/>
            <a:ext cx="6413659" cy="2807970"/>
          </a:xfrm>
          <a:prstGeom prst="roundRect">
            <a:avLst>
              <a:gd name="adj" fmla="val 3223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0"/>
          <p:cNvSpPr/>
          <p:nvPr/>
        </p:nvSpPr>
        <p:spPr>
          <a:xfrm>
            <a:off x="1016794" y="4997648"/>
            <a:ext cx="646390" cy="646390"/>
          </a:xfrm>
          <a:prstGeom prst="roundRect">
            <a:avLst>
              <a:gd name="adj" fmla="val 14144844"/>
            </a:avLst>
          </a:prstGeom>
          <a:solidFill>
            <a:srgbClr val="373B48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94554" y="5175290"/>
            <a:ext cx="290870" cy="29087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16794" y="5859423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Cost-Effective</a:t>
            </a:r>
            <a:endParaRPr lang="en-US" sz="2100" dirty="0"/>
          </a:p>
        </p:txBody>
      </p:sp>
      <p:sp>
        <p:nvSpPr>
          <p:cNvPr id="17" name="Text 12"/>
          <p:cNvSpPr/>
          <p:nvPr/>
        </p:nvSpPr>
        <p:spPr>
          <a:xfrm>
            <a:off x="1016794" y="6325195"/>
            <a:ext cx="5967651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Significantly smaller adapters reduce memory and computation, enabling cheaper GPUs, more models per server, and faster fine-tuning and deployment.</a:t>
            </a:r>
            <a:endParaRPr lang="en-US" sz="1650" dirty="0"/>
          </a:p>
        </p:txBody>
      </p:sp>
      <p:sp>
        <p:nvSpPr>
          <p:cNvPr id="18" name="Shape 13"/>
          <p:cNvSpPr/>
          <p:nvPr/>
        </p:nvSpPr>
        <p:spPr>
          <a:xfrm>
            <a:off x="7422833" y="4774644"/>
            <a:ext cx="6413778" cy="2807970"/>
          </a:xfrm>
          <a:prstGeom prst="roundRect">
            <a:avLst>
              <a:gd name="adj" fmla="val 3223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Shape 14"/>
          <p:cNvSpPr/>
          <p:nvPr/>
        </p:nvSpPr>
        <p:spPr>
          <a:xfrm>
            <a:off x="7645837" y="4997648"/>
            <a:ext cx="646390" cy="646390"/>
          </a:xfrm>
          <a:prstGeom prst="roundRect">
            <a:avLst>
              <a:gd name="adj" fmla="val 14144844"/>
            </a:avLst>
          </a:prstGeom>
          <a:solidFill>
            <a:srgbClr val="373B48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23597" y="5175290"/>
            <a:ext cx="290870" cy="29087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45837" y="5859423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Edge Deployment</a:t>
            </a:r>
            <a:endParaRPr lang="en-US" sz="2100" dirty="0"/>
          </a:p>
        </p:txBody>
      </p:sp>
      <p:sp>
        <p:nvSpPr>
          <p:cNvPr id="22" name="Text 16"/>
          <p:cNvSpPr/>
          <p:nvPr/>
        </p:nvSpPr>
        <p:spPr>
          <a:xfrm>
            <a:off x="7645837" y="6325195"/>
            <a:ext cx="5967770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Adapter sizes in the tens of thousands of parameters make on-device or low-resource deployment scenarios viable.</a:t>
            </a:r>
            <a:endParaRPr lang="en-US" sz="16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B36534-297D-A646-021D-C41AE2D4D33B}"/>
              </a:ext>
            </a:extLst>
          </p:cNvPr>
          <p:cNvSpPr/>
          <p:nvPr/>
        </p:nvSpPr>
        <p:spPr>
          <a:xfrm>
            <a:off x="11998712" y="7711796"/>
            <a:ext cx="2631688" cy="51780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887</Words>
  <Application>Microsoft Office PowerPoint</Application>
  <PresentationFormat>Custom</PresentationFormat>
  <Paragraphs>108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Funnel Sans</vt:lpstr>
      <vt:lpstr>Arial</vt:lpstr>
      <vt:lpstr>Mona Sans Semi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Hai Dang Nguyen</cp:lastModifiedBy>
  <cp:revision>3</cp:revision>
  <dcterms:created xsi:type="dcterms:W3CDTF">2025-11-18T09:02:22Z</dcterms:created>
  <dcterms:modified xsi:type="dcterms:W3CDTF">2025-11-23T09:04:02Z</dcterms:modified>
</cp:coreProperties>
</file>